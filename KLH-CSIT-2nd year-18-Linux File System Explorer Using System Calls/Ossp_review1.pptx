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sldIdLst>
    <p:sldId id="256" r:id="rId2"/>
    <p:sldId id="257" r:id="rId3"/>
    <p:sldId id="264" r:id="rId4"/>
    <p:sldId id="269" r:id="rId5"/>
    <p:sldId id="259" r:id="rId6"/>
    <p:sldId id="266" r:id="rId7"/>
    <p:sldId id="270" r:id="rId8"/>
    <p:sldId id="272" r:id="rId9"/>
    <p:sldId id="271" r:id="rId10"/>
    <p:sldId id="273"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6" d="100"/>
          <a:sy n="96" d="100"/>
        </p:scale>
        <p:origin x="1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sha Rani Kuppa" userId="a637103af95fe8ae" providerId="LiveId" clId="{639ECAB8-18B7-4FB0-ADC7-A5EB2DD49A77}"/>
    <pc:docChg chg="custSel addSld modSld">
      <pc:chgData name="Usha Rani Kuppa" userId="a637103af95fe8ae" providerId="LiveId" clId="{639ECAB8-18B7-4FB0-ADC7-A5EB2DD49A77}" dt="2026-10-31T07:45:32.745" v="602" actId="1076"/>
      <pc:docMkLst>
        <pc:docMk/>
      </pc:docMkLst>
      <pc:sldChg chg="delSp modSp mod">
        <pc:chgData name="Usha Rani Kuppa" userId="a637103af95fe8ae" providerId="LiveId" clId="{639ECAB8-18B7-4FB0-ADC7-A5EB2DD49A77}" dt="2026-10-31T07:45:32.745" v="602" actId="1076"/>
        <pc:sldMkLst>
          <pc:docMk/>
          <pc:sldMk cId="0" sldId="256"/>
        </pc:sldMkLst>
        <pc:spChg chg="mod">
          <ac:chgData name="Usha Rani Kuppa" userId="a637103af95fe8ae" providerId="LiveId" clId="{639ECAB8-18B7-4FB0-ADC7-A5EB2DD49A77}" dt="2026-10-31T07:45:32.745" v="602" actId="1076"/>
          <ac:spMkLst>
            <pc:docMk/>
            <pc:sldMk cId="0" sldId="256"/>
            <ac:spMk id="2" creationId="{00000000-0000-0000-0000-000000000000}"/>
          </ac:spMkLst>
        </pc:spChg>
        <pc:spChg chg="del mod">
          <ac:chgData name="Usha Rani Kuppa" userId="a637103af95fe8ae" providerId="LiveId" clId="{639ECAB8-18B7-4FB0-ADC7-A5EB2DD49A77}" dt="2026-10-31T07:44:51.925" v="551"/>
          <ac:spMkLst>
            <pc:docMk/>
            <pc:sldMk cId="0" sldId="256"/>
            <ac:spMk id="7" creationId="{86B79BAB-0195-236A-70B8-3DECB286B2B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EB46A-26D9-4B79-A0BA-94F0685D32D0}" type="datetimeFigureOut">
              <a:rPr lang="en-US" smtClean="0"/>
              <a:t>10/31/2026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0B1D7-2D89-41AD-A35D-8CABD3C8F5C7}" type="slidenum">
              <a:rPr lang="en-US" smtClean="0"/>
              <a:t>‹#›</a:t>
            </a:fld>
            <a:endParaRPr lang="en-US"/>
          </a:p>
        </p:txBody>
      </p:sp>
    </p:spTree>
    <p:extLst>
      <p:ext uri="{BB962C8B-B14F-4D97-AF65-F5344CB8AC3E}">
        <p14:creationId xmlns:p14="http://schemas.microsoft.com/office/powerpoint/2010/main" val="1948375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E520A89-1EA5-4B48-949C-8D49FA71E17A}" type="datetime1">
              <a:rPr lang="en-US" smtClean="0"/>
              <a:t>10/31/2026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A0E909-4676-4DFF-ACF3-65FD721A0C35}" type="datetime1">
              <a:rPr lang="en-US" smtClean="0"/>
              <a:t>10/31/2026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A0D50A7-FC51-45F0-ACE8-52BE692F1158}" type="datetime1">
              <a:rPr lang="en-US" smtClean="0"/>
              <a:t>10/31/2026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66EF69A-9B98-48A6-8714-D502F21C59AC}" type="datetime1">
              <a:rPr lang="en-US" smtClean="0"/>
              <a:t>10/31/2026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F68901D-AE11-453B-BAB5-EBEBF3FD6D52}" type="datetime1">
              <a:rPr lang="en-US" smtClean="0"/>
              <a:t>10/31/2026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6EFD338-D2AE-4808-B786-CD8FFD22129C}" type="datetime1">
              <a:rPr lang="en-US" smtClean="0"/>
              <a:t>10/31/2026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9C5FCE24-E184-4609-AA44-1D31475DE58F}" type="datetime1">
              <a:rPr lang="en-US" smtClean="0"/>
              <a:t>10/31/2026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D2F83FF-62C9-4D61-84C4-3D92576553DA}" type="datetime1">
              <a:rPr lang="en-US" smtClean="0"/>
              <a:t>10/31/2026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C872C22-043C-453D-BC8F-50D3C2C8D791}" type="datetime1">
              <a:rPr lang="en-US" smtClean="0"/>
              <a:t>10/31/2026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0F6FA3-7D56-4F82-BC8C-4558DAB8F5A1}" type="datetime1">
              <a:rPr lang="en-US" smtClean="0"/>
              <a:t>10/31/2026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966328A-B452-492B-B140-676AC5719AC5}" type="datetime1">
              <a:rPr lang="en-US" smtClean="0"/>
              <a:t>10/31/2026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95957" y="660096"/>
            <a:ext cx="9163372" cy="2316480"/>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Operating system and system programming (25CS2104E)</a:t>
            </a:r>
            <a:br>
              <a:rPr lang="en-US" sz="4000" b="1" dirty="0">
                <a:solidFill>
                  <a:srgbClr val="C00000"/>
                </a:solidFill>
                <a:latin typeface="+mn-lt"/>
              </a:rPr>
            </a:br>
            <a:br>
              <a:rPr lang="en-US" sz="4000" b="1" dirty="0">
                <a:solidFill>
                  <a:srgbClr val="C00000"/>
                </a:solidFill>
                <a:latin typeface="+mn-lt"/>
              </a:rPr>
            </a:br>
            <a:r>
              <a:rPr lang="en-US" sz="3200" b="1" dirty="0">
                <a:solidFill>
                  <a:srgbClr val="C00000"/>
                </a:solidFill>
                <a:latin typeface="+mn-lt"/>
              </a:rPr>
              <a:t>LINUX FILE SYSTEM EXPLORER USING SYSTEM CALLS</a:t>
            </a:r>
          </a:p>
        </p:txBody>
      </p:sp>
      <p:sp>
        <p:nvSpPr>
          <p:cNvPr id="3" name="Subtitle 2"/>
          <p:cNvSpPr>
            <a:spLocks noGrp="1"/>
          </p:cNvSpPr>
          <p:nvPr>
            <p:ph type="subTitle" idx="1"/>
          </p:nvPr>
        </p:nvSpPr>
        <p:spPr>
          <a:xfrm>
            <a:off x="6640015" y="4846321"/>
            <a:ext cx="5384800" cy="1913890"/>
          </a:xfrm>
        </p:spPr>
        <p:txBody>
          <a:bodyPr/>
          <a:lstStyle/>
          <a:p>
            <a:r>
              <a:rPr lang="en-US" dirty="0">
                <a:solidFill>
                  <a:srgbClr val="002060"/>
                </a:solidFill>
              </a:rPr>
              <a:t>Team Members:</a:t>
            </a:r>
          </a:p>
          <a:p>
            <a:r>
              <a:rPr lang="en-US" dirty="0">
                <a:solidFill>
                  <a:srgbClr val="002060"/>
                </a:solidFill>
              </a:rPr>
              <a:t> Usharani – 2520090049</a:t>
            </a:r>
          </a:p>
          <a:p>
            <a:r>
              <a:rPr lang="en-US" dirty="0">
                <a:solidFill>
                  <a:srgbClr val="002060"/>
                </a:solidFill>
              </a:rPr>
              <a:t>Koumudi – 2520090161</a:t>
            </a:r>
          </a:p>
          <a:p>
            <a:r>
              <a:rPr lang="en-US" dirty="0">
                <a:solidFill>
                  <a:srgbClr val="002060"/>
                </a:solidFill>
              </a:rPr>
              <a:t>Mrudhula - 2520090073</a:t>
            </a:r>
          </a:p>
          <a:p>
            <a:endParaRPr lang="en-US" dirty="0">
              <a:solidFill>
                <a:srgbClr val="002060"/>
              </a:solidFill>
            </a:endParaRPr>
          </a:p>
          <a:p>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endParaRPr lang="en-US" b="1" dirty="0">
              <a:solidFill>
                <a:schemeClr val="tx1"/>
              </a:solidFill>
            </a:endParaRPr>
          </a:p>
        </p:txBody>
      </p:sp>
      <p:sp>
        <p:nvSpPr>
          <p:cNvPr id="5" name="TextBox 4">
            <a:extLst>
              <a:ext uri="{FF2B5EF4-FFF2-40B4-BE49-F238E27FC236}">
                <a16:creationId xmlns:a16="http://schemas.microsoft.com/office/drawing/2014/main" id="{D2F78912-86E2-3DFA-A0B9-1E6CB3A9493D}"/>
              </a:ext>
            </a:extLst>
          </p:cNvPr>
          <p:cNvSpPr txBox="1"/>
          <p:nvPr/>
        </p:nvSpPr>
        <p:spPr>
          <a:xfrm>
            <a:off x="167185" y="4846321"/>
            <a:ext cx="4391167" cy="1508105"/>
          </a:xfrm>
          <a:prstGeom prst="rect">
            <a:avLst/>
          </a:prstGeom>
          <a:noFill/>
        </p:spPr>
        <p:txBody>
          <a:bodyPr wrap="square">
            <a:spAutoFit/>
          </a:bodyPr>
          <a:lstStyle/>
          <a:p>
            <a:pPr algn="ctr"/>
            <a:r>
              <a:rPr lang="en-US" sz="24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2400" kern="100" dirty="0">
              <a:latin typeface="Calibri" panose="020F0502020204030204" pitchFamily="34" charset="0"/>
              <a:ea typeface="Calibri" panose="020F0502020204030204" pitchFamily="34" charset="0"/>
              <a:cs typeface="Gautami" panose="020B0502040204020203" pitchFamily="34" charset="0"/>
            </a:endParaRPr>
          </a:p>
          <a:p>
            <a:pPr algn="ctr"/>
            <a:endParaRPr lang="en-US" sz="2200" b="1" dirty="0">
              <a:solidFill>
                <a:schemeClr val="tx1"/>
              </a:solidFill>
            </a:endParaRPr>
          </a:p>
          <a:p>
            <a:pPr algn="ctr"/>
            <a:r>
              <a:rPr lang="en-US" sz="2200" b="1" dirty="0">
                <a:solidFill>
                  <a:schemeClr val="tx1"/>
                </a:solidFill>
              </a:rPr>
              <a:t>Raghupathi M</a:t>
            </a:r>
          </a:p>
          <a:p>
            <a:pPr algn="ctr"/>
            <a:r>
              <a:rPr lang="en-US" sz="2400" b="1" dirty="0">
                <a:solidFill>
                  <a:schemeClr val="tx1"/>
                </a:solidFill>
              </a:rPr>
              <a:t>CSE Department</a:t>
            </a:r>
            <a:endParaRPr lang="en-US" sz="24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5623847"/>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dirty="0">
                <a:solidFill>
                  <a:srgbClr val="000000"/>
                </a:solidFill>
                <a:latin typeface="Calibri" panose="020F0502020204030204" pitchFamily="34" charset="0"/>
                <a:cs typeface="Gautami" panose="020B0502040204020203" pitchFamily="34" charset="0"/>
              </a:rPr>
              <a:t>System Architecture</a:t>
            </a: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cs typeface="Gautami" panose="020B0502040204020203" pitchFamily="34" charset="0"/>
              </a:rPr>
              <a:t>Methodology</a:t>
            </a: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dirty="0">
                <a:solidFill>
                  <a:srgbClr val="000000"/>
                </a:solidFill>
                <a:latin typeface="Calibri" panose="020F0502020204030204" pitchFamily="34" charset="0"/>
                <a:cs typeface="Gautami" panose="020B0502040204020203" pitchFamily="34" charset="0"/>
              </a:rPr>
              <a:t>Code Screenshots</a:t>
            </a: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cs typeface="Gautami" panose="020B0502040204020203" pitchFamily="34" charset="0"/>
              </a:rPr>
              <a:t>Output S</a:t>
            </a:r>
            <a:r>
              <a:rPr lang="en-US" sz="3200" dirty="0">
                <a:solidFill>
                  <a:srgbClr val="000000"/>
                </a:solidFill>
                <a:latin typeface="Calibri" panose="020F0502020204030204" pitchFamily="34" charset="0"/>
                <a:cs typeface="Gautami" panose="020B0502040204020203" pitchFamily="34" charset="0"/>
              </a:rPr>
              <a:t>creenshots</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
        <p:nvSpPr>
          <p:cNvPr id="2" name="Date Placeholder 1">
            <a:extLst>
              <a:ext uri="{FF2B5EF4-FFF2-40B4-BE49-F238E27FC236}">
                <a16:creationId xmlns:a16="http://schemas.microsoft.com/office/drawing/2014/main" id="{821029D6-E146-55B7-6FE6-DD167709DA3C}"/>
              </a:ext>
            </a:extLst>
          </p:cNvPr>
          <p:cNvSpPr>
            <a:spLocks noGrp="1"/>
          </p:cNvSpPr>
          <p:nvPr>
            <p:ph type="dt" sz="half" idx="10"/>
          </p:nvPr>
        </p:nvSpPr>
        <p:spPr/>
        <p:txBody>
          <a:bodyPr/>
          <a:lstStyle/>
          <a:p>
            <a:fld id="{32179801-AD4A-4368-9C25-F8FFDCCA9D13}" type="datetime1">
              <a:rPr lang="en-US" smtClean="0"/>
              <a:t>10/31/2026</a:t>
            </a:fld>
            <a:endParaRPr lang="en-US"/>
          </a:p>
        </p:txBody>
      </p:sp>
      <p:sp>
        <p:nvSpPr>
          <p:cNvPr id="3" name="Slide Number Placeholder 2">
            <a:extLst>
              <a:ext uri="{FF2B5EF4-FFF2-40B4-BE49-F238E27FC236}">
                <a16:creationId xmlns:a16="http://schemas.microsoft.com/office/drawing/2014/main" id="{CF031D3A-8519-E357-DDA9-EAECFBBAEB51}"/>
              </a:ext>
            </a:extLst>
          </p:cNvPr>
          <p:cNvSpPr>
            <a:spLocks noGrp="1"/>
          </p:cNvSpPr>
          <p:nvPr>
            <p:ph type="sldNum" sz="quarter" idx="12"/>
          </p:nvPr>
        </p:nvSpPr>
        <p:spPr/>
        <p:txBody>
          <a:bodyPr/>
          <a:lstStyle/>
          <a:p>
            <a:fld id="{7EED5C5B-9EF4-44F9-8A5E-F9CA765F3D63}"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Abstract</a:t>
            </a:r>
          </a:p>
        </p:txBody>
      </p:sp>
      <p:sp>
        <p:nvSpPr>
          <p:cNvPr id="5" name="Date Placeholder 4">
            <a:extLst>
              <a:ext uri="{FF2B5EF4-FFF2-40B4-BE49-F238E27FC236}">
                <a16:creationId xmlns:a16="http://schemas.microsoft.com/office/drawing/2014/main" id="{AFE0CFDE-CD93-201B-A399-23510E8EDADB}"/>
              </a:ext>
            </a:extLst>
          </p:cNvPr>
          <p:cNvSpPr>
            <a:spLocks noGrp="1"/>
          </p:cNvSpPr>
          <p:nvPr>
            <p:ph type="dt" sz="half" idx="10"/>
          </p:nvPr>
        </p:nvSpPr>
        <p:spPr/>
        <p:txBody>
          <a:bodyPr/>
          <a:lstStyle/>
          <a:p>
            <a:fld id="{35DB7AC3-148D-47E6-92EE-86CA146E5716}" type="datetime1">
              <a:rPr lang="en-US" smtClean="0"/>
              <a:t>10/31/2026</a:t>
            </a:fld>
            <a:endParaRPr lang="en-US"/>
          </a:p>
        </p:txBody>
      </p:sp>
      <p:sp>
        <p:nvSpPr>
          <p:cNvPr id="6" name="Slide Number Placeholder 5">
            <a:extLst>
              <a:ext uri="{FF2B5EF4-FFF2-40B4-BE49-F238E27FC236}">
                <a16:creationId xmlns:a16="http://schemas.microsoft.com/office/drawing/2014/main" id="{E7A097D3-BC04-F1C9-00E9-94B0738C1418}"/>
              </a:ext>
            </a:extLst>
          </p:cNvPr>
          <p:cNvSpPr>
            <a:spLocks noGrp="1"/>
          </p:cNvSpPr>
          <p:nvPr>
            <p:ph type="sldNum" sz="quarter" idx="12"/>
          </p:nvPr>
        </p:nvSpPr>
        <p:spPr/>
        <p:txBody>
          <a:bodyPr/>
          <a:lstStyle/>
          <a:p>
            <a:fld id="{7EED5C5B-9EF4-44F9-8A5E-F9CA765F3D63}" type="slidenum">
              <a:rPr lang="en-US" smtClean="0"/>
              <a:t>3</a:t>
            </a:fld>
            <a:endParaRPr lang="en-US"/>
          </a:p>
        </p:txBody>
      </p:sp>
      <p:sp>
        <p:nvSpPr>
          <p:cNvPr id="4" name="TextBox 3">
            <a:extLst>
              <a:ext uri="{FF2B5EF4-FFF2-40B4-BE49-F238E27FC236}">
                <a16:creationId xmlns:a16="http://schemas.microsoft.com/office/drawing/2014/main" id="{E19F2591-2B4F-7E7A-1BA5-9DAF58E544C2}"/>
              </a:ext>
            </a:extLst>
          </p:cNvPr>
          <p:cNvSpPr txBox="1"/>
          <p:nvPr/>
        </p:nvSpPr>
        <p:spPr>
          <a:xfrm>
            <a:off x="691763" y="2194560"/>
            <a:ext cx="10808473" cy="3693319"/>
          </a:xfrm>
          <a:prstGeom prst="rect">
            <a:avLst/>
          </a:prstGeom>
          <a:noFill/>
        </p:spPr>
        <p:txBody>
          <a:bodyPr wrap="square" rtlCol="0">
            <a:spAutoFit/>
          </a:bodyPr>
          <a:lstStyle/>
          <a:p>
            <a:pPr algn="just"/>
            <a:r>
              <a:rPr lang="en-IN" dirty="0"/>
              <a:t>The </a:t>
            </a:r>
            <a:r>
              <a:rPr lang="en-IN" b="1" dirty="0"/>
              <a:t>Linux File System Explorer Using System Calls</a:t>
            </a:r>
            <a:r>
              <a:rPr lang="en-IN" dirty="0"/>
              <a:t> is a command-line based Linux system programming project developed in </a:t>
            </a:r>
            <a:r>
              <a:rPr lang="en-IN" b="1" dirty="0"/>
              <a:t>C</a:t>
            </a:r>
            <a:r>
              <a:rPr lang="en-IN" dirty="0"/>
              <a:t> to provide an interactive way to explore and manage files and directories. The main objective is to demonstrate important </a:t>
            </a:r>
            <a:r>
              <a:rPr lang="en-IN" b="1" dirty="0"/>
              <a:t>Operating System and Linux/POSIX concepts</a:t>
            </a:r>
            <a:r>
              <a:rPr lang="en-IN" dirty="0"/>
              <a:t> such as system calls, file descriptors, file I/O, directory management, file permissions, metadata, and error handling. The proposed system allows users to perform operations such as viewing and navigating directories, creating, reading, writing, renaming and deleting files, creating and removing directories, searching for files, and viewing information such as file size, permissions, ownership, and modification time. The application will use Linux/POSIX system calls and APIs including </a:t>
            </a:r>
            <a:r>
              <a:rPr lang="en-IN" b="1" dirty="0"/>
              <a:t>open(), read(), write(), close(), </a:t>
            </a:r>
            <a:r>
              <a:rPr lang="en-IN" b="1" dirty="0" err="1"/>
              <a:t>mkdir</a:t>
            </a:r>
            <a:r>
              <a:rPr lang="en-IN" b="1" dirty="0"/>
              <a:t>(), </a:t>
            </a:r>
            <a:r>
              <a:rPr lang="en-IN" b="1" dirty="0" err="1"/>
              <a:t>rmdir</a:t>
            </a:r>
            <a:r>
              <a:rPr lang="en-IN" b="1" dirty="0"/>
              <a:t>(), unlink(), rename(), stat(), </a:t>
            </a:r>
            <a:r>
              <a:rPr lang="en-IN" b="1" dirty="0" err="1"/>
              <a:t>chdir</a:t>
            </a:r>
            <a:r>
              <a:rPr lang="en-IN" b="1" dirty="0"/>
              <a:t>(), </a:t>
            </a:r>
            <a:r>
              <a:rPr lang="en-IN" b="1" dirty="0" err="1"/>
              <a:t>getcwd</a:t>
            </a:r>
            <a:r>
              <a:rPr lang="en-IN" b="1" dirty="0"/>
              <a:t>(), </a:t>
            </a:r>
            <a:r>
              <a:rPr lang="en-IN" b="1" dirty="0" err="1"/>
              <a:t>opendir</a:t>
            </a:r>
            <a:r>
              <a:rPr lang="en-IN" b="1" dirty="0"/>
              <a:t>(), </a:t>
            </a:r>
            <a:r>
              <a:rPr lang="en-IN" b="1" dirty="0" err="1"/>
              <a:t>readdir</a:t>
            </a:r>
            <a:r>
              <a:rPr lang="en-IN" b="1" dirty="0"/>
              <a:t>(), and </a:t>
            </a:r>
            <a:r>
              <a:rPr lang="en-IN" b="1" dirty="0" err="1"/>
              <a:t>closedir</a:t>
            </a:r>
            <a:r>
              <a:rPr lang="en-IN" b="1" dirty="0"/>
              <a:t>()</a:t>
            </a:r>
            <a:r>
              <a:rPr lang="en-IN" dirty="0"/>
              <a:t>. Proper validation and error handling will be included to ensure reliable execution. The expected outcome is a functional Linux file-system explorer that demonstrates how user-level programs interact with the </a:t>
            </a:r>
            <a:r>
              <a:rPr lang="en-IN" b="1" dirty="0"/>
              <a:t>Linux operating system and kernel through system-level interfaces</a:t>
            </a:r>
            <a:r>
              <a:rPr lang="en-IN" dirty="0"/>
              <a:t>, providing practical experience in systems programming.</a:t>
            </a:r>
          </a:p>
          <a:p>
            <a:pPr algn="just"/>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3377-AD48-C317-56EF-BB6DEA41CB0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E7DFF9B-AF13-3CBC-C2B1-8156A6C27AD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42E30A3-627A-0C0D-8E68-FFD84EF51DAA}"/>
              </a:ext>
            </a:extLst>
          </p:cNvPr>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Introduction</a:t>
            </a:r>
          </a:p>
        </p:txBody>
      </p:sp>
      <p:sp>
        <p:nvSpPr>
          <p:cNvPr id="5" name="Date Placeholder 4">
            <a:extLst>
              <a:ext uri="{FF2B5EF4-FFF2-40B4-BE49-F238E27FC236}">
                <a16:creationId xmlns:a16="http://schemas.microsoft.com/office/drawing/2014/main" id="{1FE559BE-24A9-DD17-5994-3CA09176D0C0}"/>
              </a:ext>
            </a:extLst>
          </p:cNvPr>
          <p:cNvSpPr>
            <a:spLocks noGrp="1"/>
          </p:cNvSpPr>
          <p:nvPr>
            <p:ph type="dt" sz="half" idx="10"/>
          </p:nvPr>
        </p:nvSpPr>
        <p:spPr/>
        <p:txBody>
          <a:bodyPr/>
          <a:lstStyle/>
          <a:p>
            <a:fld id="{35DB7AC3-148D-47E6-92EE-86CA146E5716}" type="datetime1">
              <a:rPr lang="en-US" smtClean="0"/>
              <a:t>10/31/2026</a:t>
            </a:fld>
            <a:endParaRPr lang="en-US"/>
          </a:p>
        </p:txBody>
      </p:sp>
      <p:sp>
        <p:nvSpPr>
          <p:cNvPr id="6" name="Slide Number Placeholder 5">
            <a:extLst>
              <a:ext uri="{FF2B5EF4-FFF2-40B4-BE49-F238E27FC236}">
                <a16:creationId xmlns:a16="http://schemas.microsoft.com/office/drawing/2014/main" id="{917CD269-83F2-F4C5-3099-E35078586FE9}"/>
              </a:ext>
            </a:extLst>
          </p:cNvPr>
          <p:cNvSpPr>
            <a:spLocks noGrp="1"/>
          </p:cNvSpPr>
          <p:nvPr>
            <p:ph type="sldNum" sz="quarter" idx="12"/>
          </p:nvPr>
        </p:nvSpPr>
        <p:spPr/>
        <p:txBody>
          <a:bodyPr/>
          <a:lstStyle/>
          <a:p>
            <a:fld id="{7EED5C5B-9EF4-44F9-8A5E-F9CA765F3D63}" type="slidenum">
              <a:rPr lang="en-US" smtClean="0"/>
              <a:t>4</a:t>
            </a:fld>
            <a:endParaRPr lang="en-US"/>
          </a:p>
        </p:txBody>
      </p:sp>
      <p:sp>
        <p:nvSpPr>
          <p:cNvPr id="4" name="TextBox 3">
            <a:extLst>
              <a:ext uri="{FF2B5EF4-FFF2-40B4-BE49-F238E27FC236}">
                <a16:creationId xmlns:a16="http://schemas.microsoft.com/office/drawing/2014/main" id="{6126A3A5-EFA0-BD77-B4D2-8F833E265958}"/>
              </a:ext>
            </a:extLst>
          </p:cNvPr>
          <p:cNvSpPr txBox="1"/>
          <p:nvPr/>
        </p:nvSpPr>
        <p:spPr>
          <a:xfrm>
            <a:off x="906448" y="2209828"/>
            <a:ext cx="10161767" cy="3416320"/>
          </a:xfrm>
          <a:prstGeom prst="rect">
            <a:avLst/>
          </a:prstGeom>
          <a:noFill/>
        </p:spPr>
        <p:txBody>
          <a:bodyPr wrap="square" rtlCol="0">
            <a:spAutoFit/>
          </a:bodyPr>
          <a:lstStyle/>
          <a:p>
            <a:pPr algn="just"/>
            <a:r>
              <a:rPr lang="en-IN" dirty="0"/>
              <a:t>The </a:t>
            </a:r>
            <a:r>
              <a:rPr lang="en-IN" b="1" dirty="0"/>
              <a:t>Linux File System Explorer Using System Calls</a:t>
            </a:r>
            <a:r>
              <a:rPr lang="en-IN" dirty="0"/>
              <a:t> is a system programming project designed to provide a command-line interface for exploring and managing files and directories in a Linux environment. File management is one of the fundamental responsibilities of an operating system, and Linux provides various system calls and POSIX APIs through which applications can interact with the file system. This project focuses on understanding these low-level mechanisms by implementing common file and directory operations directly through system-level interfaces. Users can navigate directories, list files, create and delete files and directories, read and write file contents, rename files, search for files, and view file metadata such as size, permissions, ownership, and modification time. The project is developed using </a:t>
            </a:r>
            <a:r>
              <a:rPr lang="en-IN" b="1" dirty="0"/>
              <a:t>C programming on Linux/Ubuntu</a:t>
            </a:r>
            <a:r>
              <a:rPr lang="en-IN" dirty="0"/>
              <a:t> and demonstrates important Operating System concepts including </a:t>
            </a:r>
            <a:r>
              <a:rPr lang="en-IN" b="1" dirty="0"/>
              <a:t>system calls, file descriptors, file I/O, directory handling, permissions, metadata, and error handling</a:t>
            </a:r>
            <a:r>
              <a:rPr lang="en-IN" dirty="0"/>
              <a:t>. Unlike a generic file-management application, the core functionality of the project is implemented using Linux/POSIX mechanisms to demonstrate how user programs communicate with the operating system.</a:t>
            </a:r>
          </a:p>
        </p:txBody>
      </p:sp>
    </p:spTree>
    <p:extLst>
      <p:ext uri="{BB962C8B-B14F-4D97-AF65-F5344CB8AC3E}">
        <p14:creationId xmlns:p14="http://schemas.microsoft.com/office/powerpoint/2010/main" val="4016184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96004" y="221615"/>
            <a:ext cx="6374349" cy="52959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3970655" y="221615"/>
            <a:ext cx="6374348" cy="671195"/>
          </a:xfrm>
          <a:prstGeom prst="rect">
            <a:avLst/>
          </a:prstGeom>
          <a:noFill/>
        </p:spPr>
        <p:txBody>
          <a:bodyPr wrap="square" rtlCol="0">
            <a:noAutofit/>
          </a:bodyPr>
          <a:lstStyle/>
          <a:p>
            <a:r>
              <a:rPr lang="en-US" altLang="en-US" sz="2800" b="1" dirty="0">
                <a:solidFill>
                  <a:schemeClr val="bg1"/>
                </a:solidFill>
              </a:rPr>
              <a:t>Hardware and Software requirements</a:t>
            </a:r>
          </a:p>
        </p:txBody>
      </p:sp>
      <p:sp>
        <p:nvSpPr>
          <p:cNvPr id="5" name="Text Box 4"/>
          <p:cNvSpPr txBox="1"/>
          <p:nvPr/>
        </p:nvSpPr>
        <p:spPr>
          <a:xfrm>
            <a:off x="2974340" y="1253490"/>
            <a:ext cx="5774690" cy="3643630"/>
          </a:xfrm>
          <a:prstGeom prst="rect">
            <a:avLst/>
          </a:prstGeom>
          <a:noFill/>
        </p:spPr>
        <p:txBody>
          <a:bodyPr wrap="square" rtlCol="0">
            <a:noAutofit/>
          </a:bodyPr>
          <a:lstStyle/>
          <a:p>
            <a:r>
              <a:rPr lang="en-US" altLang="en-US" sz="2500" b="1" dirty="0"/>
              <a:t>List the Requirements in table format</a:t>
            </a:r>
          </a:p>
        </p:txBody>
      </p:sp>
      <p:sp>
        <p:nvSpPr>
          <p:cNvPr id="3" name="Date Placeholder 2">
            <a:extLst>
              <a:ext uri="{FF2B5EF4-FFF2-40B4-BE49-F238E27FC236}">
                <a16:creationId xmlns:a16="http://schemas.microsoft.com/office/drawing/2014/main" id="{7A4B27F7-CA90-4D59-F334-BDE7693BDAAC}"/>
              </a:ext>
            </a:extLst>
          </p:cNvPr>
          <p:cNvSpPr>
            <a:spLocks noGrp="1"/>
          </p:cNvSpPr>
          <p:nvPr>
            <p:ph type="dt" sz="half" idx="10"/>
          </p:nvPr>
        </p:nvSpPr>
        <p:spPr/>
        <p:txBody>
          <a:bodyPr/>
          <a:lstStyle/>
          <a:p>
            <a:fld id="{FEC03DE9-87EE-417A-AE3E-75342F0B996E}" type="datetime1">
              <a:rPr lang="en-US" smtClean="0"/>
              <a:t>10/31/2026</a:t>
            </a:fld>
            <a:endParaRPr lang="en-US"/>
          </a:p>
        </p:txBody>
      </p:sp>
      <p:sp>
        <p:nvSpPr>
          <p:cNvPr id="6" name="Slide Number Placeholder 5">
            <a:extLst>
              <a:ext uri="{FF2B5EF4-FFF2-40B4-BE49-F238E27FC236}">
                <a16:creationId xmlns:a16="http://schemas.microsoft.com/office/drawing/2014/main" id="{C9563280-B772-867A-6341-08A7DB8CCFB2}"/>
              </a:ext>
            </a:extLst>
          </p:cNvPr>
          <p:cNvSpPr>
            <a:spLocks noGrp="1"/>
          </p:cNvSpPr>
          <p:nvPr>
            <p:ph type="sldNum" sz="quarter" idx="12"/>
          </p:nvPr>
        </p:nvSpPr>
        <p:spPr/>
        <p:txBody>
          <a:bodyPr/>
          <a:lstStyle/>
          <a:p>
            <a:fld id="{7EED5C5B-9EF4-44F9-8A5E-F9CA765F3D63}" type="slidenum">
              <a:rPr lang="en-US" smtClean="0"/>
              <a:t>5</a:t>
            </a:fld>
            <a:endParaRPr lang="en-US"/>
          </a:p>
        </p:txBody>
      </p:sp>
      <p:graphicFrame>
        <p:nvGraphicFramePr>
          <p:cNvPr id="9" name="Table 8">
            <a:extLst>
              <a:ext uri="{FF2B5EF4-FFF2-40B4-BE49-F238E27FC236}">
                <a16:creationId xmlns:a16="http://schemas.microsoft.com/office/drawing/2014/main" id="{60641F85-78E8-8364-B4DA-BC7B0B760F7E}"/>
              </a:ext>
            </a:extLst>
          </p:cNvPr>
          <p:cNvGraphicFramePr>
            <a:graphicFrameLocks noGrp="1"/>
          </p:cNvGraphicFramePr>
          <p:nvPr>
            <p:extLst>
              <p:ext uri="{D42A27DB-BD31-4B8C-83A1-F6EECF244321}">
                <p14:modId xmlns:p14="http://schemas.microsoft.com/office/powerpoint/2010/main" val="1137588382"/>
              </p:ext>
            </p:extLst>
          </p:nvPr>
        </p:nvGraphicFramePr>
        <p:xfrm>
          <a:off x="2221832" y="2266950"/>
          <a:ext cx="8128000" cy="33375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335450881"/>
                    </a:ext>
                  </a:extLst>
                </a:gridCol>
                <a:gridCol w="4064000">
                  <a:extLst>
                    <a:ext uri="{9D8B030D-6E8A-4147-A177-3AD203B41FA5}">
                      <a16:colId xmlns:a16="http://schemas.microsoft.com/office/drawing/2014/main" val="4184767329"/>
                    </a:ext>
                  </a:extLst>
                </a:gridCol>
              </a:tblGrid>
              <a:tr h="370840">
                <a:tc>
                  <a:txBody>
                    <a:bodyPr/>
                    <a:lstStyle/>
                    <a:p>
                      <a:r>
                        <a:rPr lang="en-US" dirty="0"/>
                        <a:t>Hardware</a:t>
                      </a:r>
                      <a:endParaRPr lang="en-IN" dirty="0"/>
                    </a:p>
                  </a:txBody>
                  <a:tcPr/>
                </a:tc>
                <a:tc>
                  <a:txBody>
                    <a:bodyPr/>
                    <a:lstStyle/>
                    <a:p>
                      <a:r>
                        <a:rPr lang="en-US" dirty="0"/>
                        <a:t>Software</a:t>
                      </a:r>
                      <a:endParaRPr lang="en-IN" dirty="0"/>
                    </a:p>
                  </a:txBody>
                  <a:tcPr/>
                </a:tc>
                <a:extLst>
                  <a:ext uri="{0D108BD9-81ED-4DB2-BD59-A6C34878D82A}">
                    <a16:rowId xmlns:a16="http://schemas.microsoft.com/office/drawing/2014/main" val="297808878"/>
                  </a:ext>
                </a:extLst>
              </a:tr>
              <a:tr h="370840">
                <a:tc>
                  <a:txBody>
                    <a:bodyPr/>
                    <a:lstStyle/>
                    <a:p>
                      <a:r>
                        <a:rPr lang="en-US" dirty="0"/>
                        <a:t>Laptop/computer</a:t>
                      </a:r>
                      <a:endParaRPr lang="en-IN" dirty="0"/>
                    </a:p>
                  </a:txBody>
                  <a:tcPr/>
                </a:tc>
                <a:tc>
                  <a:txBody>
                    <a:bodyPr/>
                    <a:lstStyle/>
                    <a:p>
                      <a:r>
                        <a:rPr lang="en-US" dirty="0"/>
                        <a:t>Linux/ Ubuntu</a:t>
                      </a:r>
                      <a:endParaRPr lang="en-IN" dirty="0"/>
                    </a:p>
                  </a:txBody>
                  <a:tcPr/>
                </a:tc>
                <a:extLst>
                  <a:ext uri="{0D108BD9-81ED-4DB2-BD59-A6C34878D82A}">
                    <a16:rowId xmlns:a16="http://schemas.microsoft.com/office/drawing/2014/main" val="2486267704"/>
                  </a:ext>
                </a:extLst>
              </a:tr>
              <a:tr h="370840">
                <a:tc>
                  <a:txBody>
                    <a:bodyPr/>
                    <a:lstStyle/>
                    <a:p>
                      <a:r>
                        <a:rPr lang="en-US" dirty="0"/>
                        <a:t>Intel core i3 or above</a:t>
                      </a:r>
                      <a:endParaRPr lang="en-IN" dirty="0"/>
                    </a:p>
                  </a:txBody>
                  <a:tcPr/>
                </a:tc>
                <a:tc>
                  <a:txBody>
                    <a:bodyPr/>
                    <a:lstStyle/>
                    <a:p>
                      <a:r>
                        <a:rPr lang="en-US" dirty="0"/>
                        <a:t>C Programming language</a:t>
                      </a:r>
                      <a:endParaRPr lang="en-IN" dirty="0"/>
                    </a:p>
                  </a:txBody>
                  <a:tcPr/>
                </a:tc>
                <a:extLst>
                  <a:ext uri="{0D108BD9-81ED-4DB2-BD59-A6C34878D82A}">
                    <a16:rowId xmlns:a16="http://schemas.microsoft.com/office/drawing/2014/main" val="684974786"/>
                  </a:ext>
                </a:extLst>
              </a:tr>
              <a:tr h="370840">
                <a:tc>
                  <a:txBody>
                    <a:bodyPr/>
                    <a:lstStyle/>
                    <a:p>
                      <a:r>
                        <a:rPr lang="en-US" dirty="0"/>
                        <a:t>Minimum 4GB Ram</a:t>
                      </a:r>
                      <a:endParaRPr lang="en-IN" dirty="0"/>
                    </a:p>
                  </a:txBody>
                  <a:tcPr/>
                </a:tc>
                <a:tc>
                  <a:txBody>
                    <a:bodyPr/>
                    <a:lstStyle/>
                    <a:p>
                      <a:r>
                        <a:rPr lang="en-US" dirty="0"/>
                        <a:t>GCC Compiler</a:t>
                      </a:r>
                      <a:endParaRPr lang="en-IN" dirty="0"/>
                    </a:p>
                  </a:txBody>
                  <a:tcPr/>
                </a:tc>
                <a:extLst>
                  <a:ext uri="{0D108BD9-81ED-4DB2-BD59-A6C34878D82A}">
                    <a16:rowId xmlns:a16="http://schemas.microsoft.com/office/drawing/2014/main" val="4109328214"/>
                  </a:ext>
                </a:extLst>
              </a:tr>
              <a:tr h="370840">
                <a:tc>
                  <a:txBody>
                    <a:bodyPr/>
                    <a:lstStyle/>
                    <a:p>
                      <a:r>
                        <a:rPr lang="en-US" dirty="0"/>
                        <a:t>Minimum 10GB free storage</a:t>
                      </a:r>
                      <a:endParaRPr lang="en-IN" dirty="0"/>
                    </a:p>
                  </a:txBody>
                  <a:tcPr/>
                </a:tc>
                <a:tc>
                  <a:txBody>
                    <a:bodyPr/>
                    <a:lstStyle/>
                    <a:p>
                      <a:r>
                        <a:rPr lang="en-US" dirty="0"/>
                        <a:t>GNU Make</a:t>
                      </a:r>
                      <a:endParaRPr lang="en-IN" dirty="0"/>
                    </a:p>
                  </a:txBody>
                  <a:tcPr/>
                </a:tc>
                <a:extLst>
                  <a:ext uri="{0D108BD9-81ED-4DB2-BD59-A6C34878D82A}">
                    <a16:rowId xmlns:a16="http://schemas.microsoft.com/office/drawing/2014/main" val="2149178086"/>
                  </a:ext>
                </a:extLst>
              </a:tr>
              <a:tr h="370840">
                <a:tc>
                  <a:txBody>
                    <a:bodyPr/>
                    <a:lstStyle/>
                    <a:p>
                      <a:r>
                        <a:rPr lang="en-US" dirty="0"/>
                        <a:t>Keyboard</a:t>
                      </a:r>
                      <a:endParaRPr lang="en-IN" dirty="0"/>
                    </a:p>
                  </a:txBody>
                  <a:tcPr/>
                </a:tc>
                <a:tc>
                  <a:txBody>
                    <a:bodyPr/>
                    <a:lstStyle/>
                    <a:p>
                      <a:r>
                        <a:rPr lang="en-US" dirty="0"/>
                        <a:t>Bash terminal</a:t>
                      </a:r>
                      <a:endParaRPr lang="en-IN" dirty="0"/>
                    </a:p>
                  </a:txBody>
                  <a:tcPr/>
                </a:tc>
                <a:extLst>
                  <a:ext uri="{0D108BD9-81ED-4DB2-BD59-A6C34878D82A}">
                    <a16:rowId xmlns:a16="http://schemas.microsoft.com/office/drawing/2014/main" val="214846394"/>
                  </a:ext>
                </a:extLst>
              </a:tr>
              <a:tr h="370840">
                <a:tc>
                  <a:txBody>
                    <a:bodyPr/>
                    <a:lstStyle/>
                    <a:p>
                      <a:r>
                        <a:rPr lang="en-US" dirty="0"/>
                        <a:t>Monitor</a:t>
                      </a:r>
                      <a:endParaRPr lang="en-IN" dirty="0"/>
                    </a:p>
                  </a:txBody>
                  <a:tcPr/>
                </a:tc>
                <a:tc>
                  <a:txBody>
                    <a:bodyPr/>
                    <a:lstStyle/>
                    <a:p>
                      <a:r>
                        <a:rPr lang="en-US" dirty="0"/>
                        <a:t>VS Code/ Vim/ Nano</a:t>
                      </a:r>
                      <a:endParaRPr lang="en-IN" dirty="0"/>
                    </a:p>
                  </a:txBody>
                  <a:tcPr/>
                </a:tc>
                <a:extLst>
                  <a:ext uri="{0D108BD9-81ED-4DB2-BD59-A6C34878D82A}">
                    <a16:rowId xmlns:a16="http://schemas.microsoft.com/office/drawing/2014/main" val="2153647562"/>
                  </a:ext>
                </a:extLst>
              </a:tr>
              <a:tr h="370840">
                <a:tc>
                  <a:txBody>
                    <a:bodyPr/>
                    <a:lstStyle/>
                    <a:p>
                      <a:r>
                        <a:rPr lang="en-US" dirty="0"/>
                        <a:t> ----</a:t>
                      </a:r>
                      <a:endParaRPr lang="en-IN" dirty="0"/>
                    </a:p>
                  </a:txBody>
                  <a:tcPr/>
                </a:tc>
                <a:tc>
                  <a:txBody>
                    <a:bodyPr/>
                    <a:lstStyle/>
                    <a:p>
                      <a:r>
                        <a:rPr lang="en-US" dirty="0"/>
                        <a:t>Linux/ POSIX APIs</a:t>
                      </a:r>
                      <a:endParaRPr lang="en-IN" dirty="0"/>
                    </a:p>
                  </a:txBody>
                  <a:tcPr/>
                </a:tc>
                <a:extLst>
                  <a:ext uri="{0D108BD9-81ED-4DB2-BD59-A6C34878D82A}">
                    <a16:rowId xmlns:a16="http://schemas.microsoft.com/office/drawing/2014/main" val="2041580909"/>
                  </a:ext>
                </a:extLst>
              </a:tr>
              <a:tr h="370840">
                <a:tc>
                  <a:txBody>
                    <a:bodyPr/>
                    <a:lstStyle/>
                    <a:p>
                      <a:r>
                        <a:rPr lang="en-US" dirty="0"/>
                        <a:t>----</a:t>
                      </a:r>
                      <a:endParaRPr lang="en-IN" dirty="0"/>
                    </a:p>
                  </a:txBody>
                  <a:tcPr/>
                </a:tc>
                <a:tc>
                  <a:txBody>
                    <a:bodyPr/>
                    <a:lstStyle/>
                    <a:p>
                      <a:r>
                        <a:rPr lang="en-US" dirty="0"/>
                        <a:t>Git &amp; GitHub</a:t>
                      </a:r>
                      <a:endParaRPr lang="en-IN" dirty="0"/>
                    </a:p>
                  </a:txBody>
                  <a:tcPr/>
                </a:tc>
                <a:extLst>
                  <a:ext uri="{0D108BD9-81ED-4DB2-BD59-A6C34878D82A}">
                    <a16:rowId xmlns:a16="http://schemas.microsoft.com/office/drawing/2014/main" val="218726891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2644557" y="265192"/>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192647" y="303373"/>
            <a:ext cx="6871855" cy="52197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 System Architecture</a:t>
            </a:r>
            <a:endParaRPr lang="en-US" sz="2800" b="1" dirty="0">
              <a:solidFill>
                <a:schemeClr val="bg1"/>
              </a:solidFill>
            </a:endParaRPr>
          </a:p>
        </p:txBody>
      </p:sp>
      <p:sp>
        <p:nvSpPr>
          <p:cNvPr id="5" name="Date Placeholder 4">
            <a:extLst>
              <a:ext uri="{FF2B5EF4-FFF2-40B4-BE49-F238E27FC236}">
                <a16:creationId xmlns:a16="http://schemas.microsoft.com/office/drawing/2014/main" id="{57C0467B-10ED-0439-355C-AB546904D26E}"/>
              </a:ext>
            </a:extLst>
          </p:cNvPr>
          <p:cNvSpPr>
            <a:spLocks noGrp="1"/>
          </p:cNvSpPr>
          <p:nvPr>
            <p:ph type="dt" sz="half" idx="10"/>
          </p:nvPr>
        </p:nvSpPr>
        <p:spPr/>
        <p:txBody>
          <a:bodyPr/>
          <a:lstStyle/>
          <a:p>
            <a:fld id="{90F60B09-1F77-4EDB-8151-1F057DCF6ADD}" type="datetime1">
              <a:rPr lang="en-US" smtClean="0"/>
              <a:t>10/31/2026</a:t>
            </a:fld>
            <a:endParaRPr lang="en-US"/>
          </a:p>
        </p:txBody>
      </p:sp>
      <p:sp>
        <p:nvSpPr>
          <p:cNvPr id="6" name="Slide Number Placeholder 5">
            <a:extLst>
              <a:ext uri="{FF2B5EF4-FFF2-40B4-BE49-F238E27FC236}">
                <a16:creationId xmlns:a16="http://schemas.microsoft.com/office/drawing/2014/main" id="{B94128EC-BFB0-E687-111E-633D5D579C93}"/>
              </a:ext>
            </a:extLst>
          </p:cNvPr>
          <p:cNvSpPr>
            <a:spLocks noGrp="1"/>
          </p:cNvSpPr>
          <p:nvPr>
            <p:ph type="sldNum" sz="quarter" idx="12"/>
          </p:nvPr>
        </p:nvSpPr>
        <p:spPr/>
        <p:txBody>
          <a:bodyPr/>
          <a:lstStyle/>
          <a:p>
            <a:fld id="{7EED5C5B-9EF4-44F9-8A5E-F9CA765F3D63}" type="slidenum">
              <a:rPr lang="en-US" smtClean="0"/>
              <a:t>6</a:t>
            </a:fld>
            <a:endParaRPr lang="en-US"/>
          </a:p>
        </p:txBody>
      </p:sp>
      <p:pic>
        <p:nvPicPr>
          <p:cNvPr id="8" name="Picture 7">
            <a:extLst>
              <a:ext uri="{FF2B5EF4-FFF2-40B4-BE49-F238E27FC236}">
                <a16:creationId xmlns:a16="http://schemas.microsoft.com/office/drawing/2014/main" id="{CFD90A66-D8F8-B868-0086-96059B02DD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2647" y="1219169"/>
            <a:ext cx="7521934" cy="50146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7E4EFB-B645-A71F-B890-DACD1C038AA5}"/>
              </a:ext>
            </a:extLst>
          </p:cNvPr>
          <p:cNvSpPr>
            <a:spLocks noGrp="1"/>
          </p:cNvSpPr>
          <p:nvPr>
            <p:ph type="dt" sz="half" idx="10"/>
          </p:nvPr>
        </p:nvSpPr>
        <p:spPr/>
        <p:txBody>
          <a:bodyPr/>
          <a:lstStyle/>
          <a:p>
            <a:fld id="{9C5FCE24-E184-4609-AA44-1D31475DE58F}" type="datetime1">
              <a:rPr lang="en-US" smtClean="0"/>
              <a:t>10/31/2026</a:t>
            </a:fld>
            <a:endParaRPr lang="en-US"/>
          </a:p>
        </p:txBody>
      </p:sp>
      <p:sp>
        <p:nvSpPr>
          <p:cNvPr id="3" name="Slide Number Placeholder 2">
            <a:extLst>
              <a:ext uri="{FF2B5EF4-FFF2-40B4-BE49-F238E27FC236}">
                <a16:creationId xmlns:a16="http://schemas.microsoft.com/office/drawing/2014/main" id="{854CBA66-A346-05BF-C709-2861E4CFDD98}"/>
              </a:ext>
            </a:extLst>
          </p:cNvPr>
          <p:cNvSpPr>
            <a:spLocks noGrp="1"/>
          </p:cNvSpPr>
          <p:nvPr>
            <p:ph type="sldNum" sz="quarter" idx="12"/>
          </p:nvPr>
        </p:nvSpPr>
        <p:spPr/>
        <p:txBody>
          <a:bodyPr/>
          <a:lstStyle/>
          <a:p>
            <a:fld id="{7EED5C5B-9EF4-44F9-8A5E-F9CA765F3D63}" type="slidenum">
              <a:rPr lang="en-US" smtClean="0"/>
              <a:t>7</a:t>
            </a:fld>
            <a:endParaRPr lang="en-US"/>
          </a:p>
        </p:txBody>
      </p:sp>
      <p:sp>
        <p:nvSpPr>
          <p:cNvPr id="4" name="TextBox 3">
            <a:extLst>
              <a:ext uri="{FF2B5EF4-FFF2-40B4-BE49-F238E27FC236}">
                <a16:creationId xmlns:a16="http://schemas.microsoft.com/office/drawing/2014/main" id="{34012504-452C-6BD0-154B-D1CBAAAC28E1}"/>
              </a:ext>
            </a:extLst>
          </p:cNvPr>
          <p:cNvSpPr txBox="1"/>
          <p:nvPr/>
        </p:nvSpPr>
        <p:spPr>
          <a:xfrm>
            <a:off x="4071068" y="453225"/>
            <a:ext cx="5287617" cy="369332"/>
          </a:xfrm>
          <a:prstGeom prst="rect">
            <a:avLst/>
          </a:prstGeom>
          <a:noFill/>
        </p:spPr>
        <p:txBody>
          <a:bodyPr wrap="square" rtlCol="0">
            <a:spAutoFit/>
          </a:bodyPr>
          <a:lstStyle/>
          <a:p>
            <a:pPr algn="ctr"/>
            <a:r>
              <a:rPr lang="en-US" dirty="0"/>
              <a:t>Methodology</a:t>
            </a:r>
            <a:endParaRPr lang="en-IN" dirty="0"/>
          </a:p>
        </p:txBody>
      </p:sp>
      <p:pic>
        <p:nvPicPr>
          <p:cNvPr id="7" name="Picture 6">
            <a:extLst>
              <a:ext uri="{FF2B5EF4-FFF2-40B4-BE49-F238E27FC236}">
                <a16:creationId xmlns:a16="http://schemas.microsoft.com/office/drawing/2014/main" id="{4BF1220A-0ECB-5CED-DF06-8A94BE7CD00A}"/>
              </a:ext>
            </a:extLst>
          </p:cNvPr>
          <p:cNvPicPr>
            <a:picLocks noChangeAspect="1"/>
          </p:cNvPicPr>
          <p:nvPr/>
        </p:nvPicPr>
        <p:blipFill>
          <a:blip r:embed="rId2"/>
          <a:stretch>
            <a:fillRect/>
          </a:stretch>
        </p:blipFill>
        <p:spPr>
          <a:xfrm>
            <a:off x="2885826" y="1122101"/>
            <a:ext cx="7658099" cy="5105399"/>
          </a:xfrm>
          <a:prstGeom prst="rect">
            <a:avLst/>
          </a:prstGeom>
        </p:spPr>
      </p:pic>
    </p:spTree>
    <p:extLst>
      <p:ext uri="{BB962C8B-B14F-4D97-AF65-F5344CB8AC3E}">
        <p14:creationId xmlns:p14="http://schemas.microsoft.com/office/powerpoint/2010/main" val="3188956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ECE138-5B44-2A6B-A621-A80DC4DC793C}"/>
              </a:ext>
            </a:extLst>
          </p:cNvPr>
          <p:cNvSpPr>
            <a:spLocks noGrp="1"/>
          </p:cNvSpPr>
          <p:nvPr>
            <p:ph type="dt" sz="half" idx="10"/>
          </p:nvPr>
        </p:nvSpPr>
        <p:spPr/>
        <p:txBody>
          <a:bodyPr/>
          <a:lstStyle/>
          <a:p>
            <a:fld id="{9C5FCE24-E184-4609-AA44-1D31475DE58F}" type="datetime1">
              <a:rPr lang="en-US" smtClean="0"/>
              <a:t>10/31/2026</a:t>
            </a:fld>
            <a:endParaRPr lang="en-US"/>
          </a:p>
        </p:txBody>
      </p:sp>
      <p:sp>
        <p:nvSpPr>
          <p:cNvPr id="3" name="Slide Number Placeholder 2">
            <a:extLst>
              <a:ext uri="{FF2B5EF4-FFF2-40B4-BE49-F238E27FC236}">
                <a16:creationId xmlns:a16="http://schemas.microsoft.com/office/drawing/2014/main" id="{385A277C-27F7-EA12-ADBA-CA1C94029A69}"/>
              </a:ext>
            </a:extLst>
          </p:cNvPr>
          <p:cNvSpPr>
            <a:spLocks noGrp="1"/>
          </p:cNvSpPr>
          <p:nvPr>
            <p:ph type="sldNum" sz="quarter" idx="12"/>
          </p:nvPr>
        </p:nvSpPr>
        <p:spPr/>
        <p:txBody>
          <a:bodyPr/>
          <a:lstStyle/>
          <a:p>
            <a:fld id="{7EED5C5B-9EF4-44F9-8A5E-F9CA765F3D63}" type="slidenum">
              <a:rPr lang="en-US" smtClean="0"/>
              <a:t>8</a:t>
            </a:fld>
            <a:endParaRPr lang="en-US"/>
          </a:p>
        </p:txBody>
      </p:sp>
      <p:sp>
        <p:nvSpPr>
          <p:cNvPr id="4" name="TextBox 3">
            <a:extLst>
              <a:ext uri="{FF2B5EF4-FFF2-40B4-BE49-F238E27FC236}">
                <a16:creationId xmlns:a16="http://schemas.microsoft.com/office/drawing/2014/main" id="{962F23D7-5E2C-DED2-361C-E12FB6607816}"/>
              </a:ext>
            </a:extLst>
          </p:cNvPr>
          <p:cNvSpPr txBox="1"/>
          <p:nvPr/>
        </p:nvSpPr>
        <p:spPr>
          <a:xfrm>
            <a:off x="2655736" y="453224"/>
            <a:ext cx="5876014" cy="369332"/>
          </a:xfrm>
          <a:prstGeom prst="rect">
            <a:avLst/>
          </a:prstGeom>
          <a:noFill/>
        </p:spPr>
        <p:txBody>
          <a:bodyPr wrap="square" rtlCol="0">
            <a:spAutoFit/>
          </a:bodyPr>
          <a:lstStyle/>
          <a:p>
            <a:pPr algn="ctr"/>
            <a:r>
              <a:rPr lang="en-US" dirty="0"/>
              <a:t>Code Screenshots</a:t>
            </a:r>
            <a:endParaRPr lang="en-IN" dirty="0"/>
          </a:p>
        </p:txBody>
      </p:sp>
      <p:pic>
        <p:nvPicPr>
          <p:cNvPr id="7" name="Picture 6">
            <a:extLst>
              <a:ext uri="{FF2B5EF4-FFF2-40B4-BE49-F238E27FC236}">
                <a16:creationId xmlns:a16="http://schemas.microsoft.com/office/drawing/2014/main" id="{CEFBDAA0-A657-3239-EF1C-C8487DD01624}"/>
              </a:ext>
            </a:extLst>
          </p:cNvPr>
          <p:cNvPicPr>
            <a:picLocks noChangeAspect="1"/>
          </p:cNvPicPr>
          <p:nvPr/>
        </p:nvPicPr>
        <p:blipFill>
          <a:blip r:embed="rId2"/>
          <a:stretch>
            <a:fillRect/>
          </a:stretch>
        </p:blipFill>
        <p:spPr>
          <a:xfrm>
            <a:off x="1637969" y="1065761"/>
            <a:ext cx="3340817" cy="5287205"/>
          </a:xfrm>
          <a:prstGeom prst="rect">
            <a:avLst/>
          </a:prstGeom>
        </p:spPr>
      </p:pic>
      <p:pic>
        <p:nvPicPr>
          <p:cNvPr id="9" name="Picture 8">
            <a:extLst>
              <a:ext uri="{FF2B5EF4-FFF2-40B4-BE49-F238E27FC236}">
                <a16:creationId xmlns:a16="http://schemas.microsoft.com/office/drawing/2014/main" id="{FD6BF98B-E9F9-1456-F419-1BAE749233BA}"/>
              </a:ext>
            </a:extLst>
          </p:cNvPr>
          <p:cNvPicPr>
            <a:picLocks noChangeAspect="1"/>
          </p:cNvPicPr>
          <p:nvPr/>
        </p:nvPicPr>
        <p:blipFill>
          <a:blip r:embed="rId3"/>
          <a:stretch>
            <a:fillRect/>
          </a:stretch>
        </p:blipFill>
        <p:spPr>
          <a:xfrm>
            <a:off x="5624063" y="1073425"/>
            <a:ext cx="3122372" cy="5279541"/>
          </a:xfrm>
          <a:prstGeom prst="rect">
            <a:avLst/>
          </a:prstGeom>
        </p:spPr>
      </p:pic>
    </p:spTree>
    <p:extLst>
      <p:ext uri="{BB962C8B-B14F-4D97-AF65-F5344CB8AC3E}">
        <p14:creationId xmlns:p14="http://schemas.microsoft.com/office/powerpoint/2010/main" val="879371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452216-8B2A-0A6D-0FF8-2E033B04A383}"/>
              </a:ext>
            </a:extLst>
          </p:cNvPr>
          <p:cNvSpPr>
            <a:spLocks noGrp="1"/>
          </p:cNvSpPr>
          <p:nvPr>
            <p:ph type="dt" sz="half" idx="10"/>
          </p:nvPr>
        </p:nvSpPr>
        <p:spPr/>
        <p:txBody>
          <a:bodyPr/>
          <a:lstStyle/>
          <a:p>
            <a:fld id="{9C5FCE24-E184-4609-AA44-1D31475DE58F}" type="datetime1">
              <a:rPr lang="en-US" smtClean="0"/>
              <a:t>10/31/2026</a:t>
            </a:fld>
            <a:endParaRPr lang="en-US"/>
          </a:p>
        </p:txBody>
      </p:sp>
      <p:sp>
        <p:nvSpPr>
          <p:cNvPr id="3" name="Slide Number Placeholder 2">
            <a:extLst>
              <a:ext uri="{FF2B5EF4-FFF2-40B4-BE49-F238E27FC236}">
                <a16:creationId xmlns:a16="http://schemas.microsoft.com/office/drawing/2014/main" id="{6FD421F6-61FB-2D3B-A8BB-0292A5A6AE65}"/>
              </a:ext>
            </a:extLst>
          </p:cNvPr>
          <p:cNvSpPr>
            <a:spLocks noGrp="1"/>
          </p:cNvSpPr>
          <p:nvPr>
            <p:ph type="sldNum" sz="quarter" idx="12"/>
          </p:nvPr>
        </p:nvSpPr>
        <p:spPr/>
        <p:txBody>
          <a:bodyPr/>
          <a:lstStyle/>
          <a:p>
            <a:fld id="{7EED5C5B-9EF4-44F9-8A5E-F9CA765F3D63}" type="slidenum">
              <a:rPr lang="en-US" smtClean="0"/>
              <a:t>9</a:t>
            </a:fld>
            <a:endParaRPr lang="en-US"/>
          </a:p>
        </p:txBody>
      </p:sp>
      <p:sp>
        <p:nvSpPr>
          <p:cNvPr id="4" name="TextBox 3">
            <a:extLst>
              <a:ext uri="{FF2B5EF4-FFF2-40B4-BE49-F238E27FC236}">
                <a16:creationId xmlns:a16="http://schemas.microsoft.com/office/drawing/2014/main" id="{A12E9CD6-0F6D-CD59-CC42-D09A44BB37B5}"/>
              </a:ext>
            </a:extLst>
          </p:cNvPr>
          <p:cNvSpPr txBox="1"/>
          <p:nvPr/>
        </p:nvSpPr>
        <p:spPr>
          <a:xfrm>
            <a:off x="2902226" y="580445"/>
            <a:ext cx="6106602" cy="369332"/>
          </a:xfrm>
          <a:prstGeom prst="rect">
            <a:avLst/>
          </a:prstGeom>
          <a:noFill/>
        </p:spPr>
        <p:txBody>
          <a:bodyPr wrap="square" rtlCol="0">
            <a:spAutoFit/>
          </a:bodyPr>
          <a:lstStyle/>
          <a:p>
            <a:pPr algn="ctr"/>
            <a:r>
              <a:rPr lang="en-US" dirty="0"/>
              <a:t>Output Screenshots</a:t>
            </a:r>
            <a:endParaRPr lang="en-IN" dirty="0"/>
          </a:p>
        </p:txBody>
      </p:sp>
      <p:pic>
        <p:nvPicPr>
          <p:cNvPr id="7" name="Picture 6">
            <a:extLst>
              <a:ext uri="{FF2B5EF4-FFF2-40B4-BE49-F238E27FC236}">
                <a16:creationId xmlns:a16="http://schemas.microsoft.com/office/drawing/2014/main" id="{DEF20A8B-CB3A-FC26-220F-2C560B885E82}"/>
              </a:ext>
            </a:extLst>
          </p:cNvPr>
          <p:cNvPicPr>
            <a:picLocks noChangeAspect="1"/>
          </p:cNvPicPr>
          <p:nvPr/>
        </p:nvPicPr>
        <p:blipFill>
          <a:blip r:embed="rId2"/>
          <a:stretch>
            <a:fillRect/>
          </a:stretch>
        </p:blipFill>
        <p:spPr>
          <a:xfrm>
            <a:off x="117113" y="1305378"/>
            <a:ext cx="6330579" cy="1989488"/>
          </a:xfrm>
          <a:prstGeom prst="rect">
            <a:avLst/>
          </a:prstGeom>
        </p:spPr>
      </p:pic>
      <p:pic>
        <p:nvPicPr>
          <p:cNvPr id="9" name="Picture 8">
            <a:extLst>
              <a:ext uri="{FF2B5EF4-FFF2-40B4-BE49-F238E27FC236}">
                <a16:creationId xmlns:a16="http://schemas.microsoft.com/office/drawing/2014/main" id="{EB8DB846-E449-422B-EA5E-FB8BAFF5A977}"/>
              </a:ext>
            </a:extLst>
          </p:cNvPr>
          <p:cNvPicPr>
            <a:picLocks noChangeAspect="1"/>
          </p:cNvPicPr>
          <p:nvPr/>
        </p:nvPicPr>
        <p:blipFill>
          <a:blip r:embed="rId3"/>
          <a:stretch>
            <a:fillRect/>
          </a:stretch>
        </p:blipFill>
        <p:spPr>
          <a:xfrm>
            <a:off x="119270" y="3428999"/>
            <a:ext cx="3339547" cy="3158343"/>
          </a:xfrm>
          <a:prstGeom prst="rect">
            <a:avLst/>
          </a:prstGeom>
        </p:spPr>
      </p:pic>
      <p:pic>
        <p:nvPicPr>
          <p:cNvPr id="11" name="Picture 10">
            <a:extLst>
              <a:ext uri="{FF2B5EF4-FFF2-40B4-BE49-F238E27FC236}">
                <a16:creationId xmlns:a16="http://schemas.microsoft.com/office/drawing/2014/main" id="{E7D8164D-EF0E-7075-4CE3-AA6C1459CED1}"/>
              </a:ext>
            </a:extLst>
          </p:cNvPr>
          <p:cNvPicPr>
            <a:picLocks noChangeAspect="1"/>
          </p:cNvPicPr>
          <p:nvPr/>
        </p:nvPicPr>
        <p:blipFill>
          <a:blip r:embed="rId4"/>
          <a:stretch>
            <a:fillRect/>
          </a:stretch>
        </p:blipFill>
        <p:spPr>
          <a:xfrm>
            <a:off x="4422175" y="3428999"/>
            <a:ext cx="2842667" cy="3158344"/>
          </a:xfrm>
          <a:prstGeom prst="rect">
            <a:avLst/>
          </a:prstGeom>
        </p:spPr>
      </p:pic>
      <p:pic>
        <p:nvPicPr>
          <p:cNvPr id="13" name="Picture 12">
            <a:extLst>
              <a:ext uri="{FF2B5EF4-FFF2-40B4-BE49-F238E27FC236}">
                <a16:creationId xmlns:a16="http://schemas.microsoft.com/office/drawing/2014/main" id="{7CCBF1D6-E1FC-C83F-C608-AC8E2741A6DE}"/>
              </a:ext>
            </a:extLst>
          </p:cNvPr>
          <p:cNvPicPr>
            <a:picLocks noChangeAspect="1"/>
          </p:cNvPicPr>
          <p:nvPr/>
        </p:nvPicPr>
        <p:blipFill>
          <a:blip r:embed="rId5"/>
          <a:stretch>
            <a:fillRect/>
          </a:stretch>
        </p:blipFill>
        <p:spPr>
          <a:xfrm>
            <a:off x="7517652" y="1425264"/>
            <a:ext cx="3529515" cy="4293637"/>
          </a:xfrm>
          <a:prstGeom prst="rect">
            <a:avLst/>
          </a:prstGeom>
        </p:spPr>
      </p:pic>
    </p:spTree>
    <p:extLst>
      <p:ext uri="{BB962C8B-B14F-4D97-AF65-F5344CB8AC3E}">
        <p14:creationId xmlns:p14="http://schemas.microsoft.com/office/powerpoint/2010/main" val="4081674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57811-E9EF-6A35-FE4D-0B0BABDD2436}"/>
              </a:ext>
            </a:extLst>
          </p:cNvPr>
          <p:cNvSpPr>
            <a:spLocks noGrp="1"/>
          </p:cNvSpPr>
          <p:nvPr>
            <p:ph type="dt" sz="half" idx="10"/>
          </p:nvPr>
        </p:nvSpPr>
        <p:spPr/>
        <p:txBody>
          <a:bodyPr/>
          <a:lstStyle/>
          <a:p>
            <a:fld id="{9C5FCE24-E184-4609-AA44-1D31475DE58F}" type="datetime1">
              <a:rPr lang="en-US" smtClean="0"/>
              <a:t>10/31/2026</a:t>
            </a:fld>
            <a:endParaRPr lang="en-US"/>
          </a:p>
        </p:txBody>
      </p:sp>
      <p:sp>
        <p:nvSpPr>
          <p:cNvPr id="3" name="Slide Number Placeholder 2">
            <a:extLst>
              <a:ext uri="{FF2B5EF4-FFF2-40B4-BE49-F238E27FC236}">
                <a16:creationId xmlns:a16="http://schemas.microsoft.com/office/drawing/2014/main" id="{AD410738-4A60-3A3D-B8AC-1668A1B0F7B1}"/>
              </a:ext>
            </a:extLst>
          </p:cNvPr>
          <p:cNvSpPr>
            <a:spLocks noGrp="1"/>
          </p:cNvSpPr>
          <p:nvPr>
            <p:ph type="sldNum" sz="quarter" idx="12"/>
          </p:nvPr>
        </p:nvSpPr>
        <p:spPr/>
        <p:txBody>
          <a:bodyPr/>
          <a:lstStyle/>
          <a:p>
            <a:fld id="{7EED5C5B-9EF4-44F9-8A5E-F9CA765F3D63}" type="slidenum">
              <a:rPr lang="en-US" smtClean="0"/>
              <a:t>10</a:t>
            </a:fld>
            <a:endParaRPr lang="en-US"/>
          </a:p>
        </p:txBody>
      </p:sp>
      <p:sp>
        <p:nvSpPr>
          <p:cNvPr id="4" name="TextBox 3">
            <a:extLst>
              <a:ext uri="{FF2B5EF4-FFF2-40B4-BE49-F238E27FC236}">
                <a16:creationId xmlns:a16="http://schemas.microsoft.com/office/drawing/2014/main" id="{A8FF9E6E-0175-9EED-8FA5-B955FCF418E7}"/>
              </a:ext>
            </a:extLst>
          </p:cNvPr>
          <p:cNvSpPr txBox="1"/>
          <p:nvPr/>
        </p:nvSpPr>
        <p:spPr>
          <a:xfrm>
            <a:off x="1749287" y="2551836"/>
            <a:ext cx="8308416" cy="2308324"/>
          </a:xfrm>
          <a:prstGeom prst="rect">
            <a:avLst/>
          </a:prstGeom>
          <a:noFill/>
        </p:spPr>
        <p:txBody>
          <a:bodyPr wrap="square" rtlCol="0">
            <a:spAutoFit/>
          </a:bodyPr>
          <a:lstStyle/>
          <a:p>
            <a:pPr lvl="0"/>
            <a:r>
              <a:rPr lang="en-IN" sz="2400" dirty="0"/>
              <a:t>Developed using </a:t>
            </a:r>
            <a:r>
              <a:rPr lang="en-IN" sz="2400" b="1" dirty="0"/>
              <a:t>C programming</a:t>
            </a:r>
            <a:r>
              <a:rPr lang="en-IN" sz="2400" dirty="0"/>
              <a:t>. </a:t>
            </a:r>
          </a:p>
          <a:p>
            <a:pPr lvl="0"/>
            <a:r>
              <a:rPr lang="en-IN" sz="2400" dirty="0"/>
              <a:t>Runs on </a:t>
            </a:r>
            <a:r>
              <a:rPr lang="en-IN" sz="2400" b="1" dirty="0"/>
              <a:t>Linux/Ubuntu or WSL</a:t>
            </a:r>
            <a:r>
              <a:rPr lang="en-IN" sz="2400" dirty="0"/>
              <a:t>. </a:t>
            </a:r>
          </a:p>
          <a:p>
            <a:pPr lvl="0"/>
            <a:r>
              <a:rPr lang="en-IN" sz="2400" dirty="0"/>
              <a:t>Uses standard </a:t>
            </a:r>
            <a:r>
              <a:rPr lang="en-IN" sz="2400" b="1" dirty="0"/>
              <a:t>Linux/POSIX system calls</a:t>
            </a:r>
            <a:r>
              <a:rPr lang="en-IN" sz="2400" dirty="0"/>
              <a:t>. </a:t>
            </a:r>
          </a:p>
          <a:p>
            <a:pPr lvl="0"/>
            <a:r>
              <a:rPr lang="en-IN" sz="2400" dirty="0"/>
              <a:t>Requires only a standard computer. </a:t>
            </a:r>
          </a:p>
          <a:p>
            <a:pPr lvl="0"/>
            <a:r>
              <a:rPr lang="en-IN" sz="2400" dirty="0"/>
              <a:t>Uses </a:t>
            </a:r>
            <a:r>
              <a:rPr lang="en-IN" sz="2400" b="1" dirty="0"/>
              <a:t>GCC and </a:t>
            </a:r>
            <a:r>
              <a:rPr lang="en-IN" sz="2400" b="1" dirty="0" err="1"/>
              <a:t>Makefile</a:t>
            </a:r>
            <a:r>
              <a:rPr lang="en-IN" sz="2400" dirty="0"/>
              <a:t> for compilation. </a:t>
            </a:r>
          </a:p>
          <a:p>
            <a:pPr lvl="0"/>
            <a:r>
              <a:rPr lang="en-IN" sz="2400" dirty="0"/>
              <a:t>Easy to test using sample files and directories. </a:t>
            </a:r>
          </a:p>
        </p:txBody>
      </p:sp>
      <p:sp>
        <p:nvSpPr>
          <p:cNvPr id="5" name="TextBox 4">
            <a:extLst>
              <a:ext uri="{FF2B5EF4-FFF2-40B4-BE49-F238E27FC236}">
                <a16:creationId xmlns:a16="http://schemas.microsoft.com/office/drawing/2014/main" id="{D1CE68F8-41D8-E40F-8849-BB4730D9BBF8}"/>
              </a:ext>
            </a:extLst>
          </p:cNvPr>
          <p:cNvSpPr txBox="1"/>
          <p:nvPr/>
        </p:nvSpPr>
        <p:spPr>
          <a:xfrm>
            <a:off x="3514477" y="732913"/>
            <a:ext cx="5096124" cy="584775"/>
          </a:xfrm>
          <a:prstGeom prst="rect">
            <a:avLst/>
          </a:prstGeom>
          <a:noFill/>
        </p:spPr>
        <p:txBody>
          <a:bodyPr wrap="square" rtlCol="0">
            <a:spAutoFit/>
          </a:bodyPr>
          <a:lstStyle/>
          <a:p>
            <a:r>
              <a:rPr lang="en-US" sz="3200" dirty="0"/>
              <a:t>Project Feasibility Analysis</a:t>
            </a:r>
            <a:endParaRPr lang="en-IN" sz="3200" dirty="0"/>
          </a:p>
        </p:txBody>
      </p:sp>
    </p:spTree>
    <p:extLst>
      <p:ext uri="{BB962C8B-B14F-4D97-AF65-F5344CB8AC3E}">
        <p14:creationId xmlns:p14="http://schemas.microsoft.com/office/powerpoint/2010/main" val="1868661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
        <p:nvSpPr>
          <p:cNvPr id="2" name="Date Placeholder 1">
            <a:extLst>
              <a:ext uri="{FF2B5EF4-FFF2-40B4-BE49-F238E27FC236}">
                <a16:creationId xmlns:a16="http://schemas.microsoft.com/office/drawing/2014/main" id="{9D864234-7A34-7521-498A-DD3F6E491DB4}"/>
              </a:ext>
            </a:extLst>
          </p:cNvPr>
          <p:cNvSpPr>
            <a:spLocks noGrp="1"/>
          </p:cNvSpPr>
          <p:nvPr>
            <p:ph type="dt" sz="half" idx="10"/>
          </p:nvPr>
        </p:nvSpPr>
        <p:spPr/>
        <p:txBody>
          <a:bodyPr/>
          <a:lstStyle/>
          <a:p>
            <a:fld id="{76602186-ABE7-42AB-8003-2FA9F73CA34D}" type="datetime1">
              <a:rPr lang="en-US" smtClean="0"/>
              <a:t>10/31/2026</a:t>
            </a:fld>
            <a:endParaRPr lang="en-US"/>
          </a:p>
        </p:txBody>
      </p:sp>
      <p:sp>
        <p:nvSpPr>
          <p:cNvPr id="4" name="Slide Number Placeholder 3">
            <a:extLst>
              <a:ext uri="{FF2B5EF4-FFF2-40B4-BE49-F238E27FC236}">
                <a16:creationId xmlns:a16="http://schemas.microsoft.com/office/drawing/2014/main" id="{9A89A4F7-9EC8-2129-C8BB-C74E5E40CE1A}"/>
              </a:ext>
            </a:extLst>
          </p:cNvPr>
          <p:cNvSpPr>
            <a:spLocks noGrp="1"/>
          </p:cNvSpPr>
          <p:nvPr>
            <p:ph type="sldNum" sz="quarter" idx="12"/>
          </p:nvPr>
        </p:nvSpPr>
        <p:spPr/>
        <p:txBody>
          <a:bodyPr/>
          <a:lstStyle/>
          <a:p>
            <a:fld id="{7EED5C5B-9EF4-44F9-8A5E-F9CA765F3D63}" type="slidenum">
              <a:rPr lang="en-US" smtClean="0"/>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1153</TotalTime>
  <Words>602</Words>
  <Application>Microsoft Office PowerPoint</Application>
  <PresentationFormat>Widescreen</PresentationFormat>
  <Paragraphs>75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Operating system and system programming (25CS2104E)  LINUX FILE SYSTEM EXPLORER USING SYSTEM CALLS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Usha Rani Kuppa</cp:lastModifiedBy>
  <cp:revision>24</cp:revision>
  <dcterms:created xsi:type="dcterms:W3CDTF">2026-08-31T05:18:20Z</dcterms:created>
  <dcterms:modified xsi:type="dcterms:W3CDTF">2026-10-31T07:45:38Z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2E321512259BCFD0FA0C956AC94F79BD_43</vt:lpwstr>
  </property>
  <property fmtid="{D5CDD505-2E9C-101B-9397-08002B2CF9AE}" pid="3" name="KSOProductBuildVer">
    <vt:lpwstr>1033-12.1.26050.26050</vt:lpwstr>
  </property>
</Properties>
</file>